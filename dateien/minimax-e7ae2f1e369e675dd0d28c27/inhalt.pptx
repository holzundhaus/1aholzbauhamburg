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hamburg/holzfassade-oder-putzfassade-norddeutsches-klima/" TargetMode="External"/><Relationship Id="rId3" Type="http://schemas.openxmlformats.org/officeDocument/2006/relationships/hyperlink" Target="https://holzundhaus.github.io/1aholzbauhamburg/dateien/minimax-e7ae2f1e369e675dd0d28c2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Holzfassade oder Putzfassade im norddeutschen Klima: Unterkonstruktion, Feuchteverhalten und Pflege im Vergleich · Erklärende Präsentation</a:t>
            </a:r>
          </a:p>
        </p:txBody>
      </p:sp>
      <p:sp>
        <p:nvSpPr>
          <p:cNvPr id="3" name="Content Placeholder 2"/>
          <p:cNvSpPr>
            <a:spLocks noGrp="1"/>
          </p:cNvSpPr>
          <p:nvPr>
            <p:ph idx="1"/>
          </p:nvPr>
        </p:nvSpPr>
        <p:spPr/>
        <p:txBody>
          <a:bodyPr/>
          <a:lstStyle/>
          <a:p>
            <a:r>
              <a:t>Überblick: Die Entscheidung zwischen Holzfassade und Putzfassade beginnt häufig mit dem gewünschten Erscheinungsbild. Für ein Haus in Hamburg und im weiteren norddeutschen Raum ist jedoch der technische Aufbau ebenso wichtig: Feuchte, Wind, Temperaturschwankungen und die spätere Pflege prägen die Haltbarkeit. Der folgende Leitfaden ordnet beide Lösungen anhand von Unterkonstruktion, Feuchteverhalten, Anschlüssen und Wartung ein, ohne eine Variante pauschal zu bevorzugen. Die [fachliche Übersicht zum Fassadenvergleich](https://holzundhaus.github.io/1aholzbauhamburg/holzfassade-oder-putzfassade-norddeutsches-klima/) bietet dafür den Ausgangspun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Unterkonstruktion und Wandaufbau</a:t>
            </a:r>
          </a:p>
        </p:txBody>
      </p:sp>
      <p:sp>
        <p:nvSpPr>
          <p:cNvPr id="3" name="Content Placeholder 2"/>
          <p:cNvSpPr>
            <a:spLocks noGrp="1"/>
          </p:cNvSpPr>
          <p:nvPr>
            <p:ph idx="1"/>
          </p:nvPr>
        </p:nvSpPr>
        <p:spPr/>
        <p:txBody>
          <a:bodyPr/>
          <a:lstStyle/>
          <a:p>
            <a:pPr>
              <a:defRPr sz="1800"/>
            </a:pPr>
            <a:r>
              <a:t>Beide Bekleidungen benötigen einen tragfähigen und dauerhaft funktionsfähigen Untergrund. Bei einer Holzfassade wird die sichtbare Bekleidung an einer eigenen Unterkonstruktion befestigt, die Kräfte in den Wandaufbau weiterleitet. Je nach Konstruktion können weitere Schichten, eine Hinterlüftung und die dahinterliegende Wand dazukommen. Befestigung, Luftspalt sowie Anschlüsse an Fenstern, Sockel und Dachrand müssen aufeinander abgestimmt sein. Eine Putzfassade wird dagegen auf einen fest mit der Wand verbundenen Putzgrund aufgebracht. Der Aufbau umfasst in der Regel Untergrund, Armierungsschicht und Putz. Welches System geeignet ist, hängt vo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Unterkonstruktion und Wandaufbau</a:t>
            </a:r>
          </a:p>
        </p:txBody>
      </p:sp>
      <p:sp>
        <p:nvSpPr>
          <p:cNvPr id="3" name="Content Placeholder 2"/>
          <p:cNvSpPr>
            <a:spLocks noGrp="1"/>
          </p:cNvSpPr>
          <p:nvPr>
            <p:ph idx="1"/>
          </p:nvPr>
        </p:nvSpPr>
        <p:spPr/>
        <p:txBody>
          <a:bodyPr/>
          <a:lstStyle/>
          <a:p>
            <a:pPr>
              <a:defRPr sz="1800"/>
            </a:pPr>
            <a:r>
              <a:t>m vorhandenen Wandbildner und seinem Feuchteverhalten 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Fugenbild und Gestaltung</a:t>
            </a:r>
          </a:p>
        </p:txBody>
      </p:sp>
      <p:sp>
        <p:nvSpPr>
          <p:cNvPr id="3" name="Content Placeholder 2"/>
          <p:cNvSpPr>
            <a:spLocks noGrp="1"/>
          </p:cNvSpPr>
          <p:nvPr>
            <p:ph idx="1"/>
          </p:nvPr>
        </p:nvSpPr>
        <p:spPr/>
        <p:txBody>
          <a:bodyPr/>
          <a:lstStyle/>
          <a:p>
            <a:pPr>
              <a:defRPr sz="1800"/>
            </a:pPr>
            <a:r>
              <a:t>Das Fugenbild beeinflusst Optik, Unterkonstruktion und Wasserführung. Senkrecht oder waagerecht verlaufende Holzbekleidungen verlangen eine passende Unterkonstruktion. Offene Fugen stellen dabei höhere Anforderungen an Materialwahl und Anschlussausbildung, weil dahinterliegende Schichten stärker beansprucht werden können. Eine Putzfassade bildet meist eine geschlossene Fläche. Unterschiedliche Putzsysteme erzeugen verschiedene Oberflächenwirkungen, während das Fugenbild weitgehend konstant bleibt. Unabhängig vom System bleiben Fenster, Sockel und Dachrand zentrale Planungspunkte. Wer die optische Entscheidung vorab mit dem gewünschten Pflegea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Fugenbild und Gestaltung</a:t>
            </a:r>
          </a:p>
        </p:txBody>
      </p:sp>
      <p:sp>
        <p:nvSpPr>
          <p:cNvPr id="3" name="Content Placeholder 2"/>
          <p:cNvSpPr>
            <a:spLocks noGrp="1"/>
          </p:cNvSpPr>
          <p:nvPr>
            <p:ph idx="1"/>
          </p:nvPr>
        </p:nvSpPr>
        <p:spPr/>
        <p:txBody>
          <a:bodyPr/>
          <a:lstStyle/>
          <a:p>
            <a:pPr>
              <a:defRPr sz="1800"/>
            </a:pPr>
            <a:r>
              <a:t>ufwand verbindet, kann spätere Überraschungen bei der Unterhaltung vermeiden.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Feuchteverhalten im norddeutschen Klima</a:t>
            </a:r>
          </a:p>
        </p:txBody>
      </p:sp>
      <p:sp>
        <p:nvSpPr>
          <p:cNvPr id="3" name="Content Placeholder 2"/>
          <p:cNvSpPr>
            <a:spLocks noGrp="1"/>
          </p:cNvSpPr>
          <p:nvPr>
            <p:ph idx="1"/>
          </p:nvPr>
        </p:nvSpPr>
        <p:spPr/>
        <p:txBody>
          <a:bodyPr/>
          <a:lstStyle/>
          <a:p>
            <a:pPr>
              <a:defRPr sz="1800"/>
            </a:pPr>
            <a:r>
              <a:t>Häufiger Niederschlag, hohe Luftfeuchte und Wind stellen beide Außenflächen vor anspruchsvolle Aufgaben. Holz reagiert auf Feuchte durch Quellen und Schwinden. Profil, Fugenbild, Beschichtung und Unterkonstruktion müssen dieses Verhalten berücksichtigen. Bei offenen Fugen kann mehr Wasser zu den darunterliegenden Schichten gelangen, weshalb der Wasserweg bewusst geplant werden muss. Putz nimmt Feuchte in Abhängigkeit vom System teilweise kapillar auf und kann sie wieder abgeben. Entscheidend ist, dass Feuchte nicht dauerhaft in der Konstruktion verbleibt. Risse, ungeeignete Putzgründe oder fehlerhafte Anschlüsse können dabei Probleme verursac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Feuchteverhalten im norddeutschen Klima</a:t>
            </a:r>
          </a:p>
        </p:txBody>
      </p:sp>
      <p:sp>
        <p:nvSpPr>
          <p:cNvPr id="3" name="Content Placeholder 2"/>
          <p:cNvSpPr>
            <a:spLocks noGrp="1"/>
          </p:cNvSpPr>
          <p:nvPr>
            <p:ph idx="1"/>
          </p:nvPr>
        </p:nvSpPr>
        <p:spPr/>
        <p:txBody>
          <a:bodyPr/>
          <a:lstStyle/>
          <a:p>
            <a:pPr>
              <a:defRPr sz="1800"/>
            </a:pPr>
            <a:r>
              <a:t>hen. Der bauliche Holzschutz und die Auswahl des Putzsystems ersetzen deshalb nicht die fachgerechte Planung der Details.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spätere Kontrolle</a:t>
            </a:r>
          </a:p>
        </p:txBody>
      </p:sp>
      <p:sp>
        <p:nvSpPr>
          <p:cNvPr id="3" name="Content Placeholder 2"/>
          <p:cNvSpPr>
            <a:spLocks noGrp="1"/>
          </p:cNvSpPr>
          <p:nvPr>
            <p:ph idx="1"/>
          </p:nvPr>
        </p:nvSpPr>
        <p:spPr/>
        <p:txBody>
          <a:bodyPr/>
          <a:lstStyle/>
          <a:p>
            <a:pPr>
              <a:defRPr sz="1800"/>
            </a:pPr>
            <a:r>
              <a:t>Holz- und Putzfassaden benötigen unterschiedliche, aber regelmäßige Kontrollen. Beschichtete Holzoberflächen benötigen nach mehreren Jahren häufig einen neuen Anstrich. Unbeschichtetes Holz kann vergrauen; diese optische Veränderung ist nicht automatisch ein Schaden. Feuchtestellen oder lockere Teile sollten dennoch untersucht werden. Kontrollierbare Details und erreichbare Flächen erleichtern Pflege sowie den Austausch einzelner Bretter. Putzflächen werden auf Risse, Abplatzungen oder Feuchteflecken geprüft. Kleinere Risse können nachgebessert werden, während größere Schäden meist aufwendiger zu beheben sind. Wichtig ist daher, erreichbare 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spätere Kontrolle</a:t>
            </a:r>
          </a:p>
        </p:txBody>
      </p:sp>
      <p:sp>
        <p:nvSpPr>
          <p:cNvPr id="3" name="Content Placeholder 2"/>
          <p:cNvSpPr>
            <a:spLocks noGrp="1"/>
          </p:cNvSpPr>
          <p:nvPr>
            <p:ph idx="1"/>
          </p:nvPr>
        </p:nvSpPr>
        <p:spPr/>
        <p:txBody>
          <a:bodyPr/>
          <a:lstStyle/>
          <a:p>
            <a:pPr>
              <a:defRPr sz="1800"/>
            </a:pPr>
            <a:r>
              <a:t>ereiche und nicht zugängliche Anschlüsse bereits bei der Planung zu unterscheiden.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Klarheit vor der Ausführung</a:t>
            </a:r>
          </a:p>
        </p:txBody>
      </p:sp>
      <p:sp>
        <p:nvSpPr>
          <p:cNvPr id="3" name="Content Placeholder 2"/>
          <p:cNvSpPr>
            <a:spLocks noGrp="1"/>
          </p:cNvSpPr>
          <p:nvPr>
            <p:ph idx="1"/>
          </p:nvPr>
        </p:nvSpPr>
        <p:spPr/>
        <p:txBody>
          <a:bodyPr/>
          <a:lstStyle/>
          <a:p>
            <a:pPr>
              <a:defRPr sz="1800"/>
            </a:pPr>
            <a:r>
              <a:t>Vor der Entscheidung sollten der Wandaufbau und seine Tragfähigkeit, die Wasserführung an Sockel, Fenstern und Dachrand, die gewünschte Optik sowie das realistisch leistbare Pflegebedürfnis geklärt sein. Zusätzlich hilft die Frage, welche Anschlüsse später kontrollierbar bleiben. Ein klar geführter Wasserweg und zugängliche Flächen erleichtern die Wartung bei beiden Systemen. Für eine vertiefende Betrachtung der Holzfassade bietet sich die [Übersicht zu Aufbau und Pflege](https://www.1a-holzbauhamburg.de/holzfassade/) an. Bestandsprüfung und Ausführungsplanung bleiben notwendig, damit die gewählte Konstruktion nicht nur optisch überzeugt, 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Klarheit vor der Ausführung</a:t>
            </a:r>
          </a:p>
        </p:txBody>
      </p:sp>
      <p:sp>
        <p:nvSpPr>
          <p:cNvPr id="3" name="Content Placeholder 2"/>
          <p:cNvSpPr>
            <a:spLocks noGrp="1"/>
          </p:cNvSpPr>
          <p:nvPr>
            <p:ph idx="1"/>
          </p:nvPr>
        </p:nvSpPr>
        <p:spPr/>
        <p:txBody>
          <a:bodyPr/>
          <a:lstStyle/>
          <a:p>
            <a:pPr>
              <a:defRPr sz="1800"/>
            </a:pPr>
            <a:r>
              <a:t>dern auch im norddeutschen Klima funktioniert.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Holzfassade oder Putzfassade im norddeutschen Klima: Unterkonstruktion, Feuchteverhalten und Pflege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