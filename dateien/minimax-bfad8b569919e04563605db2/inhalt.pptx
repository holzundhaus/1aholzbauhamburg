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wordpress.com/2026/10/16/dachaufstockung-hamburg-bestandspruefung-vor-entwurf/" TargetMode="External"/><Relationship Id="rId3" Type="http://schemas.openxmlformats.org/officeDocument/2006/relationships/hyperlink" Target="https://holzundhaus.github.io/1aholzbauhamburg/dateien/minimax-bfad8b569919e04563605db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in Hamburg: Warum die Bestandsprüfung vor jedem Entwurf steht · Erklärende Präsentation</a:t>
            </a:r>
          </a:p>
        </p:txBody>
      </p:sp>
      <p:sp>
        <p:nvSpPr>
          <p:cNvPr id="3" name="Content Placeholder 2"/>
          <p:cNvSpPr>
            <a:spLocks noGrp="1"/>
          </p:cNvSpPr>
          <p:nvPr>
            <p:ph idx="1"/>
          </p:nvPr>
        </p:nvSpPr>
        <p:spPr/>
        <p:txBody>
          <a:bodyPr/>
          <a:lstStyle/>
          <a:p>
            <a:r>
              <a:t>Überblick: Eine Dachaufstockung in Hamburg beginnt nicht mit dem Entwurf eines neuen Geschosses, sondern mit einer nüchternen Bestandsaufnahme. Denn neue Lasten treffen auf ein vorhandenes Tragwerk, das weder nach Baujahr noch nach früheren Umbauten allein aus Plänen zuverlässig eingeschätzt werden kann. [Zur Bestandsprüfung vor dem Entwurf](https://1aholzbauhamburg.wordpress.com/2026/10/16/dachaufstockung-hamburg-bestandspruefung-vor-entwurf/) erfahren Sie, welche Unterlagen, Voruntersuchungen und Abgrenzungen sinnvoll sind. Die folgende Checkliste strukturiert den Weg von der ersten Projektbeschreibung bis zur baurechtlichen Einordnung.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den vorhandenen Bau belegen</a:t>
            </a:r>
          </a:p>
        </p:txBody>
      </p:sp>
      <p:sp>
        <p:nvSpPr>
          <p:cNvPr id="3" name="Content Placeholder 2"/>
          <p:cNvSpPr>
            <a:spLocks noGrp="1"/>
          </p:cNvSpPr>
          <p:nvPr>
            <p:ph idx="1"/>
          </p:nvPr>
        </p:nvSpPr>
        <p:spPr/>
        <p:txBody>
          <a:bodyPr/>
          <a:lstStyle/>
          <a:p>
            <a:pPr>
              <a:defRPr sz="1800"/>
            </a:pPr>
            <a:r>
              <a:t>Grundlage jeder Beurteilung sind möglichst aktuelle Grundrisse, Schnitte und Ansichten mit Maßen und Höhen. Hinzu kommen Angaben zu Gründung, Keller und Sohle sowie zum Aufbau der Decken mit Schichtfolgen, Balkenquerschnitten und Achsabständen. Für das Dach sind Sparrenlage, Kehlbalken, Pfetten, Anschlaghölzer und bestehende Öffnungen wichtig. Auch die Geschichte des Hauses zählt: Gauben, Anbauten, Sanierungen, Trockenbau oder nachträgliche Dämmungen können die ursprüngliche Konstruktion verändert haben. Angaben zu Haustechnik, Leitungswegen und brandschutzrelevanten Bauteilen ergänzen die Unterlagen. Fehlen entscheidende Informationen, könne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den vorhandenen Bau belegen</a:t>
            </a:r>
          </a:p>
        </p:txBody>
      </p:sp>
      <p:sp>
        <p:nvSpPr>
          <p:cNvPr id="3" name="Content Placeholder 2"/>
          <p:cNvSpPr>
            <a:spLocks noGrp="1"/>
          </p:cNvSpPr>
          <p:nvPr>
            <p:ph idx="1"/>
          </p:nvPr>
        </p:nvSpPr>
        <p:spPr/>
        <p:txBody>
          <a:bodyPr/>
          <a:lstStyle/>
          <a:p>
            <a:pPr>
              <a:defRPr sz="1800"/>
            </a:pPr>
            <a:r>
              <a:t>n Aufmaß, Sondagen, Bauteilöffnungen oder eine Probebelastung erforderlich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eine Prüfung am Bau abläuft</a:t>
            </a:r>
          </a:p>
        </p:txBody>
      </p:sp>
      <p:sp>
        <p:nvSpPr>
          <p:cNvPr id="3" name="Content Placeholder 2"/>
          <p:cNvSpPr>
            <a:spLocks noGrp="1"/>
          </p:cNvSpPr>
          <p:nvPr>
            <p:ph idx="1"/>
          </p:nvPr>
        </p:nvSpPr>
        <p:spPr/>
        <p:txBody>
          <a:bodyPr/>
          <a:lstStyle/>
          <a:p>
            <a:pPr>
              <a:defRPr sz="1800"/>
            </a:pPr>
            <a:r>
              <a:t>Die Bestandsprüfung verbindet eine Tragwerksbegehung mit der Bewertung vorhandener Unterlagen und einer rechnerischen Abschätzung. Dabei werden unter anderem Risse, Durchbiegungen sowie Feuchte- oder Pilzbefall an Holzbauteilen erfasst. Für die Decken werden Spannweiten, Achsabstände und Nutzlasten betrachtet. Auch die Frage, ob das Dach als Kalt- oder Warmdach aufgebaut ist und welche Anschlüsse bestehen, gehört zur Klärung. Später sind Rettungswege, Brand- und Schallschutz sowie die Photovoltaikpflicht zu prüfen. Die Prüfung liefert damit nicht nur eine Tragfähigkeitsaussage, sondern eine belastbare Grundlage für die weitere Planung.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Genehmigungsfragen früh geklärt werden</a:t>
            </a:r>
          </a:p>
        </p:txBody>
      </p:sp>
      <p:sp>
        <p:nvSpPr>
          <p:cNvPr id="3" name="Content Placeholder 2"/>
          <p:cNvSpPr>
            <a:spLocks noGrp="1"/>
          </p:cNvSpPr>
          <p:nvPr>
            <p:ph idx="1"/>
          </p:nvPr>
        </p:nvSpPr>
        <p:spPr/>
        <p:txBody>
          <a:bodyPr/>
          <a:lstStyle/>
          <a:p>
            <a:pPr>
              <a:defRPr sz="1800"/>
            </a:pPr>
            <a:r>
              <a:t>Eine Aufstockung verändert ein bestehendes Gebäude stärker als eine Reparatur. Seit Januar 2026 gilt in Hamburg die neue Hamburgische Bauordnung. Je nach Grundstück, Nutzung und Maßnahme können unterschiedliche Verfahrenswege oder eine Genehmigungsfreistellung infrage kommen. Offene Punkte sollten vor einer Einreichung abgestimmt werden, weil zusätzliche Anforderungen den Ablauf und die Planung beeinflussen. Ein Bauvorbescheid kann bei einer klar abgegrenzten Einzelfrage Klarheit schaffen. Entscheidend ist eine präzise Fragestellung: Welche rechtliche oder technische Frage soll verbindlich geklärt werden, und welche Unterlagen werden dafür 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Genehmigungsfragen früh geklärt werden</a:t>
            </a:r>
          </a:p>
        </p:txBody>
      </p:sp>
      <p:sp>
        <p:nvSpPr>
          <p:cNvPr id="3" name="Content Placeholder 2"/>
          <p:cNvSpPr>
            <a:spLocks noGrp="1"/>
          </p:cNvSpPr>
          <p:nvPr>
            <p:ph idx="1"/>
          </p:nvPr>
        </p:nvSpPr>
        <p:spPr/>
        <p:txBody>
          <a:bodyPr/>
          <a:lstStyle/>
          <a:p>
            <a:pPr>
              <a:defRPr sz="1800"/>
            </a:pPr>
            <a:r>
              <a:t>nötigt? Eine Anfrage ersetzt weder Bestandsaufnahme noch Ausführungsplanung.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Schutzkonzept, Photovoltaik und Holzbau zusammenspielen</a:t>
            </a:r>
          </a:p>
        </p:txBody>
      </p:sp>
      <p:sp>
        <p:nvSpPr>
          <p:cNvPr id="3" name="Content Placeholder 2"/>
          <p:cNvSpPr>
            <a:spLocks noGrp="1"/>
          </p:cNvSpPr>
          <p:nvPr>
            <p:ph idx="1"/>
          </p:nvPr>
        </p:nvSpPr>
        <p:spPr/>
        <p:txBody>
          <a:bodyPr/>
          <a:lstStyle/>
          <a:p>
            <a:pPr>
              <a:defRPr sz="1800"/>
            </a:pPr>
            <a:r>
              <a:t>Mit zusätzlicher Höhe und Nutzung verändern sich auch die Anforderungen an Rettungswege, Brand- und Schallschutz. Das Schutzkonzept sollte vor der Werkplanung feststehen, weil Schichten, Treppen und Anschlüsse den späteren Entwurf wesentlich verändern. Bei einem Neubau oder wesentlichen Dachumbau kann die Hamburger Photovoltaikpflicht relevant werden; verfügbare Fläche, Lasten, Befestigungen und Leitungswege sind dann gemeinsam zu betrachten. Im Holzbau ist zusätzlich die Vorfertigung zu berücksichtigen. Sie setzt frühzeitige Entscheidungen über Öffnungen, Anschlüsse und Installationswege voraus. Die [Satelliten-Inhalt zur ergänzenden Einordn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Schutzkonzept, Photovoltaik und Holzbau zusammenspielen</a:t>
            </a:r>
          </a:p>
        </p:txBody>
      </p:sp>
      <p:sp>
        <p:nvSpPr>
          <p:cNvPr id="3" name="Content Placeholder 2"/>
          <p:cNvSpPr>
            <a:spLocks noGrp="1"/>
          </p:cNvSpPr>
          <p:nvPr>
            <p:ph idx="1"/>
          </p:nvPr>
        </p:nvSpPr>
        <p:spPr/>
        <p:txBody>
          <a:bodyPr/>
          <a:lstStyle/>
          <a:p>
            <a:pPr>
              <a:defRPr sz="1800"/>
            </a:pPr>
            <a:r>
              <a:t>ung](https://holzundhaus.github.io/1aholzbauessen/satellite-publisher/regenwasser-carport-terrassenueberdachung-essen/) kann dabei als ergänzender Anknüpfungspunkt dienen.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vor der ersten Anfrage vorliegen sollten</a:t>
            </a:r>
          </a:p>
        </p:txBody>
      </p:sp>
      <p:sp>
        <p:nvSpPr>
          <p:cNvPr id="3" name="Content Placeholder 2"/>
          <p:cNvSpPr>
            <a:spLocks noGrp="1"/>
          </p:cNvSpPr>
          <p:nvPr>
            <p:ph idx="1"/>
          </p:nvPr>
        </p:nvSpPr>
        <p:spPr/>
        <p:txBody>
          <a:bodyPr/>
          <a:lstStyle/>
          <a:p>
            <a:pPr>
              <a:defRPr sz="1800"/>
            </a:pPr>
            <a:r>
              <a:t>Eine konkrete Projektbeschreibung erleichtert die fachliche Einordnung. Dazu gehören Standort, ungefähre Gebäudemaße und Geschosszahl, vorhandene Pläne und Genehmigungen, dokumentierte Umbauten, gewünschte Räume und deren Nutzung. Ebenso wichtig sind der aktuelle Planungsstand, bekannte Schäden, die Zugangssituation sowie verfügbare Stellflächen für Kran und Lieferfahrzeuge. Vor der Planung sollte außerdem geklärt werden, ob tatsächlich eine Aufstockung, ein Dachausbau, ein seitlicher Holzanbau oder eine reine Dachsanierung gewünscht ist. Diese Maßnahmen haben unterschiedliche Tragwerksfragen, Anschlüsse und Genehmigungsvoraussetzungen. Die 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vor der ersten Anfrage vorliegen sollten</a:t>
            </a:r>
          </a:p>
        </p:txBody>
      </p:sp>
      <p:sp>
        <p:nvSpPr>
          <p:cNvPr id="3" name="Content Placeholder 2"/>
          <p:cNvSpPr>
            <a:spLocks noGrp="1"/>
          </p:cNvSpPr>
          <p:nvPr>
            <p:ph idx="1"/>
          </p:nvPr>
        </p:nvSpPr>
        <p:spPr/>
        <p:txBody>
          <a:bodyPr/>
          <a:lstStyle/>
          <a:p>
            <a:pPr>
              <a:defRPr sz="1800"/>
            </a:pPr>
            <a:r>
              <a:t>bgrenzung verhindert, dass später tragende, baurechtliche oder logistische Aufgaben vermischt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Dachaufstockung in Hamburg: Warum die Bestandsprüfung vor jedem Entwurf steht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