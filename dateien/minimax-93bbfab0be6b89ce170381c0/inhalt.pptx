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hamburg.wordpress.com/2026/10/31/vordach-holz-eingangssituation-stufen-bewegungsflaechen/" TargetMode="External"/><Relationship Id="rId3" Type="http://schemas.openxmlformats.org/officeDocument/2006/relationships/hyperlink" Target="https://holzundhaus.github.io/1aholzbauhamburg/dateien/minimax-93bbfab0be6b89ce170381c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Vordach aus Holz: Welche Eingangssituation, Stufen und Bewegungsflächen es wirklich schützen soll · Erklärende Präsentation</a:t>
            </a:r>
          </a:p>
        </p:txBody>
      </p:sp>
      <p:sp>
        <p:nvSpPr>
          <p:cNvPr id="3" name="Content Placeholder 2"/>
          <p:cNvSpPr>
            <a:spLocks noGrp="1"/>
          </p:cNvSpPr>
          <p:nvPr>
            <p:ph idx="1"/>
          </p:nvPr>
        </p:nvSpPr>
        <p:spPr/>
        <p:txBody>
          <a:bodyPr/>
          <a:lstStyle/>
          <a:p>
            <a:r>
              <a:t>Überblick: Ein Vordach aus Holz schützt nicht allein die Haustür. Entscheidend ist die konkrete Eingangssituation: Türöffnung, Stufen, Bewegungsflächen, angrenzende Fassade und vorhandene Dämmung müssen gemeinsam betrachtet werden. Der folgende Leitfaden zeigt, wie aus dem geschützten Bereich eine belastbare Planungsaufgabe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pauschale Maße rarely passen</a:t>
            </a:r>
          </a:p>
        </p:txBody>
      </p:sp>
      <p:sp>
        <p:nvSpPr>
          <p:cNvPr id="3" name="Content Placeholder 2"/>
          <p:cNvSpPr>
            <a:spLocks noGrp="1"/>
          </p:cNvSpPr>
          <p:nvPr>
            <p:ph idx="1"/>
          </p:nvPr>
        </p:nvSpPr>
        <p:spPr/>
        <p:txBody>
          <a:bodyPr/>
          <a:lstStyle/>
          <a:p>
            <a:pPr>
              <a:defRPr sz="1800"/>
            </a:pPr>
            <a:r>
              <a:t>Ein Vordach wird nicht zuerst nach einer festen Breite und Tiefe bemessen. Maßgeblich ist, was am Eingang tatsächlich geschützt werden soll. Dazu gehören die Tür und ihre Bewegungsrichtung ebenso wie Stufen, ein Podest oder ein Höhensprung vor der Tür. Auch die Fläche zum Wechseln eines Schirms, zum Abstellen von Einkaufstaschen oder zum kurzzeitigen Verweilen gehört in die Überlegung.</a:t>
            </a:r>
          </a:p>
          <a:p>
            <a:pPr>
              <a:defRPr sz="1800"/>
            </a:pPr>
          </a:p>
          <a:p>
            <a:pPr>
              <a:defRPr sz="1800"/>
            </a:pPr>
            <a:r>
              <a:t>Die Breite des Türblatts sagt daher wenig über den erforderlichen Grundriss aus. Eine nach außen aufschlagende Tür benötigt mehr freien Raum als ein Türblatt mit feststehendem Seitenteil. Die lichte Höhe muss zudem zur Nutzung passen. Neben der Durchgangshöhe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pauschale Maße rarely passen</a:t>
            </a:r>
          </a:p>
        </p:txBody>
      </p:sp>
      <p:sp>
        <p:nvSpPr>
          <p:cNvPr id="3" name="Content Placeholder 2"/>
          <p:cNvSpPr>
            <a:spLocks noGrp="1"/>
          </p:cNvSpPr>
          <p:nvPr>
            <p:ph idx="1"/>
          </p:nvPr>
        </p:nvSpPr>
        <p:spPr/>
        <p:txBody>
          <a:bodyPr/>
          <a:lstStyle/>
          <a:p>
            <a:pPr>
              <a:defRPr sz="1800"/>
            </a:pPr>
            <a:r>
              <a:t>spielt sie eine Rolle, wenn unter dem Vordach etwa ein Briefkasten oder eine Paketablage vorgesehen ist.</a:t>
            </a:r>
          </a:p>
          <a:p>
            <a:pPr>
              <a:defRPr sz="1800"/>
            </a:pPr>
          </a:p>
          <a:p>
            <a:pPr>
              <a:defRPr sz="1800"/>
            </a:pPr>
            <a:r>
              <a:t>Die Planung des Vordachs aus Holz beginnt somit nicht mit einem Standardmaß, sondern mit einer Bestandsaufnahme der Eingangssituation. Das Vordach sollte den erforderlichen Bewegungsraum abdecken und dort Schutz bieten, wo Menschen beim Zugang und Verlassen tatsächlich 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 Stufen und Spritzwasser gemeinsam erfassen</a:t>
            </a:r>
          </a:p>
        </p:txBody>
      </p:sp>
      <p:sp>
        <p:nvSpPr>
          <p:cNvPr id="3" name="Content Placeholder 2"/>
          <p:cNvSpPr>
            <a:spLocks noGrp="1"/>
          </p:cNvSpPr>
          <p:nvPr>
            <p:ph idx="1"/>
          </p:nvPr>
        </p:nvSpPr>
        <p:spPr/>
        <p:txBody>
          <a:bodyPr/>
          <a:lstStyle/>
          <a:p>
            <a:pPr>
              <a:defRPr sz="1800"/>
            </a:pPr>
            <a:r>
              <a:t>Bei der Aufnahme sollten die Türbewegung, der Türaufschlag und die Griffseite berücksichtigt werden. Wird die Tür bei Regen geöffnet, darf der Türflügel nicht trotz überdachter Fläche im Wasser stehen. Ebenso wichtig ist die Frage, wo Person und Gepäck während des Öffnens verbleiben.</a:t>
            </a:r>
          </a:p>
          <a:p>
            <a:pPr>
              <a:defRPr sz="1800"/>
            </a:pPr>
          </a:p>
          <a:p>
            <a:pPr>
              <a:defRPr sz="1800"/>
            </a:pPr>
            <a:r>
              <a:t>Vor der Tür befinden sich häufig mehrere Nutzungsebenen. Eine einzelne Stufe, ein Podest oder ein Höhenversprung vergrößern den zu schützenden Bereich deutlich. Eine Konstruktion, die nur auf Höhe des Türblatts anschließt, kann die Trittkante dennoch nass halten. Zusätzlich entstehen beim Aufprall von Regen auf die Trittfläche Spritzwasserbereiche, die im Grundr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 Stufen und Spritzwasser gemeinsam erfassen</a:t>
            </a:r>
          </a:p>
        </p:txBody>
      </p:sp>
      <p:sp>
        <p:nvSpPr>
          <p:cNvPr id="3" name="Content Placeholder 2"/>
          <p:cNvSpPr>
            <a:spLocks noGrp="1"/>
          </p:cNvSpPr>
          <p:nvPr>
            <p:ph idx="1"/>
          </p:nvPr>
        </p:nvSpPr>
        <p:spPr/>
        <p:txBody>
          <a:bodyPr/>
          <a:lstStyle/>
          <a:p>
            <a:pPr>
              <a:defRPr sz="1800"/>
            </a:pPr>
            <a:r>
              <a:t>iss berücksichtigt werden müssen.</a:t>
            </a:r>
          </a:p>
          <a:p>
            <a:pPr>
              <a:defRPr sz="1800"/>
            </a:pPr>
          </a:p>
          <a:p>
            <a:pPr>
              <a:defRPr sz="1800"/>
            </a:pPr>
            <a:r>
              <a:t>Hilfreich für die weitere Planung ist eine Skizze oder Fotodokumentation, die Tür, Stufen, angrenzende Wandflächen und die gewünschte freizuhaltende Fläche zeigt. So lässt sich erkennen, ob der Schutz nur für den Türbereich oder auch für einen Sitzbereich, eine Ablage oder einen Stellplatz benötigt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Fassadenanschluss entscheidet über die Befestigung</a:t>
            </a:r>
          </a:p>
        </p:txBody>
      </p:sp>
      <p:sp>
        <p:nvSpPr>
          <p:cNvPr id="3" name="Content Placeholder 2"/>
          <p:cNvSpPr>
            <a:spLocks noGrp="1"/>
          </p:cNvSpPr>
          <p:nvPr>
            <p:ph idx="1"/>
          </p:nvPr>
        </p:nvSpPr>
        <p:spPr/>
        <p:txBody>
          <a:bodyPr/>
          <a:lstStyle/>
          <a:p>
            <a:pPr>
              <a:defRPr sz="1800"/>
            </a:pPr>
            <a:r>
              <a:t>Ein Vordach ist keine einzelne Holzkonstruktion, die unabhängig von der Fassade befestigt werden kann. Befestigungsmittel und Anschlussdetails richten sich nach dem vorhandenen Wandaufbau. Holz, Mauerwerk, Putz auf Dämmung und andere Fassadenaufbauten erfordern unterschiedliche Lösungen.</a:t>
            </a:r>
          </a:p>
          <a:p>
            <a:pPr>
              <a:defRPr sz="1800"/>
            </a:pPr>
          </a:p>
          <a:p>
            <a:pPr>
              <a:defRPr sz="1800"/>
            </a:pPr>
            <a:r>
              <a:t>Auch eine vorhandene Wärmedämmung verändert die Anschlussplanung. Tragfähiges Mauerwerk allein genügt deshalb nicht als ausreichende Beschreibung. Zu klären ist, wie die Lasten des Vordachs abgeführt und wie der Anschluss dauerhaft dicht sowie konstruktiv ausgeführt wird. Ein passender Beschlag beantwortet diese Fragen nicht abschließend.</a:t>
            </a:r>
          </a:p>
          <a:p>
            <a:pPr>
              <a:defRPr sz="1800"/>
            </a:pPr>
          </a:p>
          <a:p>
            <a:pPr>
              <a:defRPr sz="1800"/>
            </a:pPr>
            <a:r>
              <a:t>Kommt ein Wandansc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Fassadenanschluss entscheidet über die Befestigung</a:t>
            </a:r>
          </a:p>
        </p:txBody>
      </p:sp>
      <p:sp>
        <p:nvSpPr>
          <p:cNvPr id="3" name="Content Placeholder 2"/>
          <p:cNvSpPr>
            <a:spLocks noGrp="1"/>
          </p:cNvSpPr>
          <p:nvPr>
            <p:ph idx="1"/>
          </p:nvPr>
        </p:nvSpPr>
        <p:spPr/>
        <p:txBody>
          <a:bodyPr/>
          <a:lstStyle/>
          <a:p>
            <a:pPr>
              <a:defRPr sz="1800"/>
            </a:pPr>
            <a:r>
              <a:t>hluss technisch nicht infrage, können eigene Stützen mit entsprechendem Auflager eine Alternative darstellen. Auch hier müssen Stellplatz, Aufbau und die angrenzenden Bauteile in die Planung einbezogen werden. Fachliche Abstimmung ist sinnvoll, bevor Maße endgültig festgelegt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Einen kontrollierten Wasserweg planen</a:t>
            </a:r>
          </a:p>
        </p:txBody>
      </p:sp>
      <p:sp>
        <p:nvSpPr>
          <p:cNvPr id="3" name="Content Placeholder 2"/>
          <p:cNvSpPr>
            <a:spLocks noGrp="1"/>
          </p:cNvSpPr>
          <p:nvPr>
            <p:ph idx="1"/>
          </p:nvPr>
        </p:nvSpPr>
        <p:spPr/>
        <p:txBody>
          <a:bodyPr/>
          <a:lstStyle/>
          <a:p>
            <a:pPr>
              <a:defRPr sz="1800"/>
            </a:pPr>
            <a:r>
              <a:t>Die Dacheindeckung eines Holzvordachs sammelt Niederschlag. Das Wasser muss vom Dach kontrolliert zur Hauswand und an dieser entlang weitergeführt werden. Besonders wichtig ist der Übergang zwischen Dach und Fassade: Wasser darf nicht hinter angrenzende Schichten gelangen.</a:t>
            </a:r>
          </a:p>
          <a:p>
            <a:pPr>
              <a:defRPr sz="1800"/>
            </a:pPr>
          </a:p>
          <a:p>
            <a:pPr>
              <a:defRPr sz="1800"/>
            </a:pPr>
            <a:r>
              <a:t>Hier liegt auch der bauliche Holzschutz. Er betrifft nicht nur die sichtbaren Flächen, sondern auch Anschlüsse, die später schwerer zu erreichen oder zu warten sind. Bei der Planung should deshalb sowohl die Ableitung als auch die Zugänglichkeit berücksichtigt werden.</a:t>
            </a:r>
          </a:p>
          <a:p>
            <a:pPr>
              <a:defRPr sz="1800"/>
            </a:pPr>
          </a:p>
          <a:p>
            <a:pPr>
              <a:defRPr sz="1800"/>
            </a:pPr>
            <a:r>
              <a:t>Für die Anfrage an einen Fachbetrieb genügen Angaben zur Eingangssituation, zum Wandaufbau, zu Dämmung,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Einen kontrollierten Wasserweg planen</a:t>
            </a:r>
          </a:p>
        </p:txBody>
      </p:sp>
      <p:sp>
        <p:nvSpPr>
          <p:cNvPr id="3" name="Content Placeholder 2"/>
          <p:cNvSpPr>
            <a:spLocks noGrp="1"/>
          </p:cNvSpPr>
          <p:nvPr>
            <p:ph idx="1"/>
          </p:nvPr>
        </p:nvSpPr>
        <p:spPr/>
        <p:txBody>
          <a:bodyPr/>
          <a:lstStyle/>
          <a:p>
            <a:pPr>
              <a:defRPr sz="1800"/>
            </a:pPr>
            <a:r>
              <a:t>tufen und gewünschten Schutzbereich. Fotos, eine Skizze sowie die ungefähre Breite und Tiefe des freizuhaltenden Bewegungsraums erleichtern die Beurteilung. Auch sichtbare Besonderheiten wie Auflagen oder eine enge Stellplatzsituation gehören dazu.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Vordach und Fassade getrennt oder gemeinsam lösen</a:t>
            </a:r>
          </a:p>
        </p:txBody>
      </p:sp>
      <p:sp>
        <p:nvSpPr>
          <p:cNvPr id="3" name="Content Placeholder 2"/>
          <p:cNvSpPr>
            <a:spLocks noGrp="1"/>
          </p:cNvSpPr>
          <p:nvPr>
            <p:ph idx="1"/>
          </p:nvPr>
        </p:nvSpPr>
        <p:spPr/>
        <p:txBody>
          <a:bodyPr/>
          <a:lstStyle/>
          <a:p>
            <a:pPr>
              <a:defRPr sz="1800"/>
            </a:pPr>
            <a:r>
              <a:t>Ein Eingangsvordach ist Teil des gesamten Fassadenbilds. Wenn zugleich die äußere Bekleidung erneuert wird, sollte die Holzfassade als Anschlussnachbar in dieselbe Überlegung einbezogen werden. So können Übergänge und Materialien aufeinander abgestimmt werden.</a:t>
            </a:r>
          </a:p>
          <a:p>
            <a:pPr>
              <a:defRPr sz="1800"/>
            </a:pPr>
          </a:p>
          <a:p>
            <a:pPr>
              <a:defRPr sz="1800"/>
            </a:pPr>
            <a:r>
              <a:t>Anders ist es, wenn ein Sitzbereich vor der Tür überdacht werden soll. Eine umfangreiche Terrassenüberdachung stellt eine eigene Konstruktion dar und sollte nicht lediglich als größere Variante des Vordachs behandelt werden. Die Trennung von Eingangsschutz und Terrassenüberdachung erleichtert die Zuordnung von Überdeckung, Wasserableitung und Befestigung.</a:t>
            </a:r>
          </a:p>
          <a:p>
            <a:pPr>
              <a:defRPr sz="1800"/>
            </a:pPr>
          </a:p>
          <a:p>
            <a:pPr>
              <a:defRPr sz="1800"/>
            </a:pPr>
            <a:r>
              <a:t>Bei der weiteren Abstimmung 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Vordach und Fassade getrennt oder gemeinsam lösen</a:t>
            </a:r>
          </a:p>
        </p:txBody>
      </p:sp>
      <p:sp>
        <p:nvSpPr>
          <p:cNvPr id="3" name="Content Placeholder 2"/>
          <p:cNvSpPr>
            <a:spLocks noGrp="1"/>
          </p:cNvSpPr>
          <p:nvPr>
            <p:ph idx="1"/>
          </p:nvPr>
        </p:nvSpPr>
        <p:spPr/>
        <p:txBody>
          <a:bodyPr/>
          <a:lstStyle/>
          <a:p>
            <a:pPr>
              <a:defRPr sz="1800"/>
            </a:pPr>
            <a:r>
              <a:t>st außerdem zu klären, welche baurechtlichen Schritte für das konkrete Vorhaben in Hamburg erforderlich sind. Auch bei einem kleinen Bauvorhaben sollte dieser Aspekt nicht unberücksichtigt bleiben. Grundlage für eine verlässliche Beratung bleibt die nachvollziehbare Beschreibung der vorhandenen Situation.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Vordach aus Holz: Welche Eingangssituation, Stufen und Bewegungsflächen es wirklich schützen soll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