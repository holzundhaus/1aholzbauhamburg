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hamburg/-/blob/ca773cd57371aa60cab92bb0fe18412a5cb211f6/_posts/2026-10-18-holzvordach-waermedaemmung-fassade-befestigung-anschluss.md" TargetMode="External"/><Relationship Id="rId3" Type="http://schemas.openxmlformats.org/officeDocument/2006/relationships/hyperlink" Target="https://holzundhaus.github.io/1aholzbauhamburg/dateien/minimax-206a620cddcc396bfb1853a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Holzvordach an gedämmter Fassade: Was Wandmaterial, Dämmebene und Anschluss vor der Montage klären müssen · Erklärende Präsentation</a:t>
            </a:r>
          </a:p>
        </p:txBody>
      </p:sp>
      <p:sp>
        <p:nvSpPr>
          <p:cNvPr id="3" name="Content Placeholder 2"/>
          <p:cNvSpPr>
            <a:spLocks noGrp="1"/>
          </p:cNvSpPr>
          <p:nvPr>
            <p:ph idx="1"/>
          </p:nvPr>
        </p:nvSpPr>
        <p:spPr/>
        <p:txBody>
          <a:bodyPr/>
          <a:lstStyle/>
          <a:p>
            <a:r>
              <a:t>Überblick: Ein Holzvordach vor einer gedämmten Fassade verlangt mehr als eine passende Optik und eine sichere Verschraubung. Entscheidend ist, wie die Dämmebene den Lastweg beeinflusst und wie Dachkante, Fassade und angrenzende Bauteile miteinander verbunden werden. Der folgende Leitfaden hilft, den vorhandenen Aufbau zu erfassen und eine belastbare Anfrage für die weitere Planung vorzubereiten.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Dämmebene den Lastweg verändert</a:t>
            </a:r>
          </a:p>
        </p:txBody>
      </p:sp>
      <p:sp>
        <p:nvSpPr>
          <p:cNvPr id="3" name="Content Placeholder 2"/>
          <p:cNvSpPr>
            <a:spLocks noGrp="1"/>
          </p:cNvSpPr>
          <p:nvPr>
            <p:ph idx="1"/>
          </p:nvPr>
        </p:nvSpPr>
        <p:spPr/>
        <p:txBody>
          <a:bodyPr/>
          <a:lstStyle/>
          <a:p>
            <a:pPr>
              <a:defRPr sz="1800"/>
            </a:pPr>
            <a:r>
              <a:t>Bei einer ungedämmten Fassade werden Konsolen oder Anker üblicherweise direkt im tragenden Mauerwerk oder Beton verankert. Vor einer Wärmedämmung liegt jedoch eine zusätzliche Schicht, die die Kräfte nicht selbst aufnehmen kann. Eigengewicht, Schnee und Wind belasten das Vordach deshalb nicht nur an der sichtbaren Fassade, sondern auch den Aufbau hinter der Dämmung.</a:t>
            </a:r>
          </a:p>
          <a:p>
            <a:pPr>
              <a:defRPr sz="1800"/>
            </a:pPr>
          </a:p>
          <a:p>
            <a:pPr>
              <a:defRPr sz="1800"/>
            </a:pPr>
            <a:r>
              <a:t>Konsolenlänge, Ankerbild und Dämmstärke müssen deshalb zueinanderpassen. Die Dämmung darf nicht als Befestigungsgrundlage dienen. Zugleich darf ihre Funktion durch eine ungünstige Durchdringung nicht unnötig beeinträchtigt werden. Wer die [Befestigung eines Holzvordachs an einer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Dämmebene den Lastweg verändert</a:t>
            </a:r>
          </a:p>
        </p:txBody>
      </p:sp>
      <p:sp>
        <p:nvSpPr>
          <p:cNvPr id="3" name="Content Placeholder 2"/>
          <p:cNvSpPr>
            <a:spLocks noGrp="1"/>
          </p:cNvSpPr>
          <p:nvPr>
            <p:ph idx="1"/>
          </p:nvPr>
        </p:nvSpPr>
        <p:spPr/>
        <p:txBody>
          <a:bodyPr/>
          <a:lstStyle/>
          <a:p>
            <a:pPr>
              <a:defRPr sz="1800"/>
            </a:pPr>
            <a:r>
              <a:t>gedämmten Fassade](https://gitlab.com/info4678/1a-holzbauhamburg/-/blob/ca773cd57371aa60cab92bb0fe18412a5cb211f6/_posts/2026-10-18-holzvordach-waermedaemmung-fassade-befestigung-anschluss.md) früh berücksichtigt, kann die erforderliche Prüfung und Planung klar eingrenzen.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Angaben zum Bestand sind wichtig</a:t>
            </a:r>
          </a:p>
        </p:txBody>
      </p:sp>
      <p:sp>
        <p:nvSpPr>
          <p:cNvPr id="3" name="Content Placeholder 2"/>
          <p:cNvSpPr>
            <a:spLocks noGrp="1"/>
          </p:cNvSpPr>
          <p:nvPr>
            <p:ph idx="1"/>
          </p:nvPr>
        </p:nvSpPr>
        <p:spPr/>
        <p:txBody>
          <a:bodyPr/>
          <a:lstStyle/>
          <a:p>
            <a:pPr>
              <a:defRPr sz="1800"/>
            </a:pPr>
            <a:r>
              <a:t>Für die Vorbereitung einer Anfrage genügt zunächst eine sorgfältige Bestandserfassung. Hilfreich sind:</a:t>
            </a:r>
          </a:p>
          <a:p>
            <a:pPr>
              <a:defRPr sz="1800"/>
            </a:pPr>
          </a:p>
          <a:p>
            <a:pPr>
              <a:defRPr sz="1800"/>
            </a:pPr>
            <a:r>
              <a:t>- Angaben zum Wandbausender hinter der Dämmung, etwa Mauerwerk, Beton, Holzständer oder eine zweischalige Bauweise;</a:t>
            </a:r>
          </a:p>
          <a:p>
            <a:pPr>
              <a:defRPr sz="1800"/>
            </a:pPr>
            <a:r>
              <a:t>- Art und Stärke der vorhandenen Wärmedämmung;</a:t>
            </a:r>
          </a:p>
          <a:p>
            <a:pPr>
              <a:defRPr sz="1800"/>
            </a:pPr>
            <a:r>
              <a:t>- Angaben zu Hohlräumen, alten Anschlüssen oder bereits vorhandenen Befestigungspunkten;</a:t>
            </a:r>
          </a:p>
          <a:p>
            <a:pPr>
              <a:defRPr sz="1800"/>
            </a:pPr>
            <a:r>
              <a:t>- ungefähre Maße des gewünschten Vordachs und der Eingangstür;</a:t>
            </a:r>
          </a:p>
          <a:p>
            <a:pPr>
              <a:defRPr sz="1800"/>
            </a:pPr>
            <a:r>
              <a:t>- Fotos, vorhandene Pläne oder Skizzen der Anschlussstelle.</a:t>
            </a:r>
          </a:p>
          <a:p>
            <a:pPr>
              <a:defRPr sz="1800"/>
            </a:pPr>
          </a:p>
          <a:p>
            <a:pPr>
              <a:defRPr sz="1800"/>
            </a:pPr>
            <a:r>
              <a:t>Auch der Standort in Hamburg und die vorhandene Gestaltung der Eingangssituation können bei der Beurteilung hilfreich sein. Diese Informationen ersetzen weder eine Bestan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Angaben zum Bestand sind wichtig</a:t>
            </a:r>
          </a:p>
        </p:txBody>
      </p:sp>
      <p:sp>
        <p:nvSpPr>
          <p:cNvPr id="3" name="Content Placeholder 2"/>
          <p:cNvSpPr>
            <a:spLocks noGrp="1"/>
          </p:cNvSpPr>
          <p:nvPr>
            <p:ph idx="1"/>
          </p:nvPr>
        </p:nvSpPr>
        <p:spPr/>
        <p:txBody>
          <a:bodyPr/>
          <a:lstStyle/>
          <a:p>
            <a:pPr>
              <a:defRPr sz="1800"/>
            </a:pPr>
            <a:r>
              <a:t>dsprüfung noch eine vollständige Ausführungsplanung. Sie ermöglichen aber eine realistischere Beurteilung der Befestigungsart und des benötigten Aufbaus.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und Wasserführung vor der Montage festlegen</a:t>
            </a:r>
          </a:p>
        </p:txBody>
      </p:sp>
      <p:sp>
        <p:nvSpPr>
          <p:cNvPr id="3" name="Content Placeholder 2"/>
          <p:cNvSpPr>
            <a:spLocks noGrp="1"/>
          </p:cNvSpPr>
          <p:nvPr>
            <p:ph idx="1"/>
          </p:nvPr>
        </p:nvSpPr>
        <p:spPr/>
        <p:txBody>
          <a:bodyPr/>
          <a:lstStyle/>
          <a:p>
            <a:pPr>
              <a:defRPr sz="1800"/>
            </a:pPr>
            <a:r>
              <a:t>Am Übergang zwischen Dacheindeckung und Fassade treffen mehrere Funktionen aufeinander. Hier muss Niederschlag kontrolliert ablaufen und darf nicht hinter Putz, Holz oder Dämmung geraten. Zu klären ist außerdem, wo die luftdichte beziehungsweise winddichte Schicht liegt und wie sie am Vordach weitergeführt wird.</a:t>
            </a:r>
          </a:p>
          <a:p>
            <a:pPr>
              <a:defRPr sz="1800"/>
            </a:pPr>
          </a:p>
          <a:p>
            <a:pPr>
              <a:defRPr sz="1800"/>
            </a:pPr>
            <a:r>
              <a:t>Weitere wichtige Punkte sind der Tropf- und Spritzwasserbereich am Eingang, vorhandene Fensterbänke oder Anschlussprofile sowie Kontaktstellen, die nach der Montage schwer erreichbar sind. Solche Details gehören nicht nur zur Gestaltung, sondern beeinflussen Witterungsschutz, Holzschutz und die Dauerhaftigkeit der Konstruktion.</a:t>
            </a:r>
          </a:p>
          <a:p>
            <a:pPr>
              <a:defRPr sz="1800"/>
            </a:pPr>
          </a:p>
          <a:p>
            <a:pPr>
              <a:defRPr sz="1800"/>
            </a:pPr>
            <a:r>
              <a:t>Die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und Wasserführung vor der Montage festlegen</a:t>
            </a:r>
          </a:p>
        </p:txBody>
      </p:sp>
      <p:sp>
        <p:nvSpPr>
          <p:cNvPr id="3" name="Content Placeholder 2"/>
          <p:cNvSpPr>
            <a:spLocks noGrp="1"/>
          </p:cNvSpPr>
          <p:nvPr>
            <p:ph idx="1"/>
          </p:nvPr>
        </p:nvSpPr>
        <p:spPr/>
        <p:txBody>
          <a:bodyPr/>
          <a:lstStyle/>
          <a:p>
            <a:pPr>
              <a:defRPr sz="1800"/>
            </a:pPr>
            <a:r>
              <a:t>Anschlusslinie sollte vor Beginn der Arbeiten feststehen. Bei mehreren baulichen Eingriffen am selben Übergang hilft die Orientierung an [Gebäudefuge und Anschlussdetails am Wandübergang](https://gitlab.com/info4678/1a-holzbauhamburg/-/blob/ca773cd57371aa60cab92bb0fe18412a5cb211f6/_posts/2026-10-18-holzvordach-waermedaemmung-fassade-befestigung-anschluss.md), damit Befestigung und Fassade nicht getrennt voneinander geplant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Fassadenaufbau zusammendenken</a:t>
            </a:r>
          </a:p>
        </p:txBody>
      </p:sp>
      <p:sp>
        <p:nvSpPr>
          <p:cNvPr id="3" name="Content Placeholder 2"/>
          <p:cNvSpPr>
            <a:spLocks noGrp="1"/>
          </p:cNvSpPr>
          <p:nvPr>
            <p:ph idx="1"/>
          </p:nvPr>
        </p:nvSpPr>
        <p:spPr/>
        <p:txBody>
          <a:bodyPr/>
          <a:lstStyle/>
          <a:p>
            <a:pPr>
              <a:defRPr sz="1800"/>
            </a:pPr>
            <a:r>
              <a:t>Eine belastbare Lösung trennt die Funktionen des Vordachs von denen der Fassade. Das Vordach übernimmt Schutz und Abtragung seiner Lasten; Wand, Dämmung und Bekleidung müssen ihre vorhandenen Funktionen behalten. Konsolen sind daher so zu wählen und zu verankern, dass der tragende Untergrund erreicht wird und die Dämmebene möglichst wenig beeinträchtigt wird.</a:t>
            </a:r>
          </a:p>
          <a:p>
            <a:pPr>
              <a:defRPr sz="1800"/>
            </a:pPr>
          </a:p>
          <a:p>
            <a:pPr>
              <a:defRPr sz="1800"/>
            </a:pPr>
            <a:r>
              <a:t>Neben der Befestigung muss auch die konstruktive Trennung berücksichtigt werden. Zu den offenen Punkten gehören die auftretenden Schub- und Vertikallasten, die Ausbildung der Konsolen im Dämmebereich und die Frage, ob eine eigenständige Abstützung sinnvoll ist. Auch diese Aspekte gehöre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Fassadenaufbau zusammendenken</a:t>
            </a:r>
          </a:p>
        </p:txBody>
      </p:sp>
      <p:sp>
        <p:nvSpPr>
          <p:cNvPr id="3" name="Content Placeholder 2"/>
          <p:cNvSpPr>
            <a:spLocks noGrp="1"/>
          </p:cNvSpPr>
          <p:nvPr>
            <p:ph idx="1"/>
          </p:nvPr>
        </p:nvSpPr>
        <p:spPr/>
        <p:txBody>
          <a:bodyPr/>
          <a:lstStyle/>
          <a:p>
            <a:pPr>
              <a:defRPr sz="1800"/>
            </a:pPr>
            <a:r>
              <a:t>n in die fachliche Planung, statt allein auf dem Bauort nach einer allgemeinen Montageanleitung entschieden zu werden.</a:t>
            </a:r>
          </a:p>
          <a:p>
            <a:pPr>
              <a:defRPr sz="1800"/>
            </a:pPr>
          </a:p>
          <a:p>
            <a:pPr>
              <a:defRPr sz="1800"/>
            </a:pPr>
            <a:r>
              <a:t>Eine gute Anfrage trennt deshalb erkennbare Bestandteile, offene Entscheidungen und bereits abgestimmte Leitplanken. So kann der weitere Planungsweg nachvollziehbar bleiben, ohne dass aus einer Vorbereitungshilfe eine ausführungsreife Konstruktion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Holzvordach an gedämmter Fassade: Was Wandmaterial, Dämmebene und Anschluss vor der Montage klären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