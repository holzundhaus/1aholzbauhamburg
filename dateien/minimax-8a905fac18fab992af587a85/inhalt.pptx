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hamburg.blogspot.com/2026/10/sommerlicher-hitzeschutz-im-holzdach.html" TargetMode="External"/><Relationship Id="rId3" Type="http://schemas.openxmlformats.org/officeDocument/2006/relationships/hyperlink" Target="https://holzundhaus.github.io/1aholzbauhamburg/dateien/minimax-8a905fac18fab992af587a8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Sommerlicher Hitzeschutz im Holzdach: mehr als nur Dämmung · Erklärende Präsentation</a:t>
            </a:r>
          </a:p>
        </p:txBody>
      </p:sp>
      <p:sp>
        <p:nvSpPr>
          <p:cNvPr id="3" name="Content Placeholder 2"/>
          <p:cNvSpPr>
            <a:spLocks noGrp="1"/>
          </p:cNvSpPr>
          <p:nvPr>
            <p:ph idx="1"/>
          </p:nvPr>
        </p:nvSpPr>
        <p:spPr/>
        <p:txBody>
          <a:bodyPr/>
          <a:lstStyle/>
          <a:p>
            <a:r>
              <a:t>Überblick: Der sommerliche Hitzeschutz im Holzdach ist eine eigenständige Planungsaufgabe. Ein hoher Dämmwert für den Winter beantwortet nicht automatisch die Frage, wie sich ein Dachgeschoss im Sommer aufheizt. Entscheidend sind das Zusammenspiel aus Strahlungsbelastung, Wärmespeicherung, Schichtaufbau, Verschattung und Lüftung. Der folgende Leitfaden ordnet diese Faktoren und zeigt, welche Schritte vor einer Veränderung am Bestand sinnvoll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Dämmwert allein nicht genügt</a:t>
            </a:r>
          </a:p>
        </p:txBody>
      </p:sp>
      <p:sp>
        <p:nvSpPr>
          <p:cNvPr id="3" name="Content Placeholder 2"/>
          <p:cNvSpPr>
            <a:spLocks noGrp="1"/>
          </p:cNvSpPr>
          <p:nvPr>
            <p:ph idx="1"/>
          </p:nvPr>
        </p:nvSpPr>
        <p:spPr/>
        <p:txBody>
          <a:bodyPr/>
          <a:lstStyle/>
          <a:p>
            <a:pPr>
              <a:defRPr sz="1800"/>
            </a:pPr>
            <a:r>
              <a:t>Ein Holzdach erhält im Sommer Wärme durch Sonneneinstrahlung. Diese erwärmt die Dachdeckung und die Konstruktion. Die Bauteile speichern die Wärme und geben sie zeitversetzt an den Innenraum ab. Wenn das Dach nachts nicht ausreichend abkühlen kann, bleibt die Wärme über viele Stunden im Raum. Für den sommerlichen Hitzeschutz sind deshalb drei Fragen zu trennen: Wie viel Strahlung erreicht die Dachfläche und wie viel wird reflektiert? Wie viel Wärme nimmt die Konstruktion auf? Wie gut kann sie nachts wieder abgegeben werden? Die Wahl des Dämmstoffs allein verändert diese Gesamtsituation nur begrenzt.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Rolle des Schichtaufbaus</a:t>
            </a:r>
          </a:p>
        </p:txBody>
      </p:sp>
      <p:sp>
        <p:nvSpPr>
          <p:cNvPr id="3" name="Content Placeholder 2"/>
          <p:cNvSpPr>
            <a:spLocks noGrp="1"/>
          </p:cNvSpPr>
          <p:nvPr>
            <p:ph idx="1"/>
          </p:nvPr>
        </p:nvSpPr>
        <p:spPr/>
        <p:txBody>
          <a:bodyPr/>
          <a:lstStyle/>
          <a:p>
            <a:pPr>
              <a:defRPr sz="1800"/>
            </a:pPr>
            <a:r>
              <a:t>Bei einem Holzdach liegt über dem Wohnraum häufig eine vergleichsweise leichte Konstruktion mit begrenzter Speichermasse. Die genaue Anordnung der Schichten beeinflusst, ob die Raumoberfläche direkt erwärmt wird oder ob die Wärme erst in tieferen Bauteilen gespeichert wird. Eine Zwischensparrendämmung nutzt den vorhandenen Hohlraum, lässt aber wenig zusätzliche Speichermasse zu, wenn die raumseitige Bekleidung leicht bleibt. Eine Untersparrendämmung kann die direkte Erwärmung der Raumoberfläche abmildern. Eine Aufsparrendämmung wirkt dagegen auf der Außenseite der Konstruktion und beeinflusst, wie viel Wärme überhaupt in das Dach gelangt. Wel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Rolle des Schichtaufbaus</a:t>
            </a:r>
          </a:p>
        </p:txBody>
      </p:sp>
      <p:sp>
        <p:nvSpPr>
          <p:cNvPr id="3" name="Content Placeholder 2"/>
          <p:cNvSpPr>
            <a:spLocks noGrp="1"/>
          </p:cNvSpPr>
          <p:nvPr>
            <p:ph idx="1"/>
          </p:nvPr>
        </p:nvSpPr>
        <p:spPr/>
        <p:txBody>
          <a:bodyPr/>
          <a:lstStyle/>
          <a:p>
            <a:pPr>
              <a:defRPr sz="1800"/>
            </a:pPr>
            <a:r>
              <a:t>cher Aufbau geeignet ist, hängt vom Zustand des Daches, von den Anschlüssen und vom gewünschten Schutzziel ab. Wichtig ist außerdem, ob sich eine zusätzliche Schicht statisch und bauphysikalisch sinnvoll integrieren lässt. Ein Blick auf die weiterführende Planung des Dachaufbaus hilft, Schichten, Luftdichtheit und Anschlüsse gemeinsam zu beurteilen.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Lüftung und Verschattung als ergänzende Maßnahmen</a:t>
            </a:r>
          </a:p>
        </p:txBody>
      </p:sp>
      <p:sp>
        <p:nvSpPr>
          <p:cNvPr id="3" name="Content Placeholder 2"/>
          <p:cNvSpPr>
            <a:spLocks noGrp="1"/>
          </p:cNvSpPr>
          <p:nvPr>
            <p:ph idx="1"/>
          </p:nvPr>
        </p:nvSpPr>
        <p:spPr/>
        <p:txBody>
          <a:bodyPr/>
          <a:lstStyle/>
          <a:p>
            <a:pPr>
              <a:defRPr sz="1800"/>
            </a:pPr>
            <a:r>
              <a:t>Der sommerliche Hitzeschutz gelingt nur, wenn die tagsüber aufgenommene Wärme nachts wieder abgeführt werden kann. Im Bestand erschweren kleine oder ungünstig geschnittene Fenster, Nachbarbebauung und eine für den Winter luftdicht geplante Hülle eine wirksame Lüftung. Zu klären ist, welche Öffnungen einen kontrollierten Luftwechsel ermöglichen, ohne die winterliche Luftdichtheit zu beeinträchtigen. Außerdem sollte vermieden werden, während der heißesten Tageszeiten zusätzlich warme Außenluft einzutragen. Mechanische Lüftung kann sinnvoll ergänzen, ersetzt aber nicht die grundsätzliche Prüfung von Fensteranordnung, Raumdurchlüftung und Bauteil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Lüftung und Verschattung als ergänzende Maßnahmen</a:t>
            </a:r>
          </a:p>
        </p:txBody>
      </p:sp>
      <p:sp>
        <p:nvSpPr>
          <p:cNvPr id="3" name="Content Placeholder 2"/>
          <p:cNvSpPr>
            <a:spLocks noGrp="1"/>
          </p:cNvSpPr>
          <p:nvPr>
            <p:ph idx="1"/>
          </p:nvPr>
        </p:nvSpPr>
        <p:spPr/>
        <p:txBody>
          <a:bodyPr/>
          <a:lstStyle/>
          <a:p>
            <a:pPr>
              <a:defRPr sz="1800"/>
            </a:pPr>
            <a:r>
              <a:t>temperatur. Eine Verschattung kann zudem verhindern, dass die Dachfläche oder Dachflächenfenster zusätzlich Strahlung aufnehmen. Beide Maßnahmen wirken jedoch nur im Zusammenspiel mit einem geeigneten Aufbau.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prüfen und Eingriffe abwägen</a:t>
            </a:r>
          </a:p>
        </p:txBody>
      </p:sp>
      <p:sp>
        <p:nvSpPr>
          <p:cNvPr id="3" name="Content Placeholder 2"/>
          <p:cNvSpPr>
            <a:spLocks noGrp="1"/>
          </p:cNvSpPr>
          <p:nvPr>
            <p:ph idx="1"/>
          </p:nvPr>
        </p:nvSpPr>
        <p:spPr/>
        <p:txBody>
          <a:bodyPr/>
          <a:lstStyle/>
          <a:p>
            <a:pPr>
              <a:defRPr sz="1800"/>
            </a:pPr>
            <a:r>
              <a:t>Vor der Umsetzung sollte der vorhandene Aufbau genau erfasst werden: vorhandene Schichten, Sparrenhöhe, Deckung, Anschlüsse an Wand und Fenster sowie die vorhandene Belüftung. Ebenso wichtig ist das Nutzerverhalten, etwa die Nutzungszeiten des Dachgeschosses und die tatsächlich gewünschte Raumtemperatur. Sonneneinstrahlung und Verschattung sollten am Standort geprüft werden, insbesondere im Bereich von Gauben, Dachflächenfenstern und Nachbarbebauung. Zusätzliche Dämmlagen verändern das Eigengewicht und die Lasteinleitung in die Sparren. Sie können außerdem den Feuchtehaushalt beeinflussen, wenn ihre Lage und Diffusionsoffenheit nicht zum übri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prüfen und Eingriffe abwägen</a:t>
            </a:r>
          </a:p>
        </p:txBody>
      </p:sp>
      <p:sp>
        <p:nvSpPr>
          <p:cNvPr id="3" name="Content Placeholder 2"/>
          <p:cNvSpPr>
            <a:spLocks noGrp="1"/>
          </p:cNvSpPr>
          <p:nvPr>
            <p:ph idx="1"/>
          </p:nvPr>
        </p:nvSpPr>
        <p:spPr/>
        <p:txBody>
          <a:bodyPr/>
          <a:lstStyle/>
          <a:p>
            <a:pPr>
              <a:defRPr sz="1800"/>
            </a:pPr>
            <a:r>
              <a:t>gen Aufbau passen. Deshalb ist zu prüfen, ob Verschattung, Lüftungselemente oder eine angepasste raumseitige Bekleidung sinnvoller sind als eine weitere Dämmlage. Der passende Beitrag zur Regenwasserführung bei Carport und Terrassenüberdachung ergänzt diese Planung um die Frage, wie Wasser aus dem Dachbereich kontrolliert abgeführt wird.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Sommerlicher Hitzeschutz im Holzdach: mehr als nur Dämmung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