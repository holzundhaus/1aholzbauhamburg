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hamburg.blogspot.com/2026/10/holzbau-anfrage-vorbereiten-welche.html" TargetMode="External"/><Relationship Id="rId3" Type="http://schemas.openxmlformats.org/officeDocument/2006/relationships/hyperlink" Target="https://holzundhaus.github.io/1aholzbauhamburg/dateien/minimax-eba115c49604259f61c2b50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Holzbau-Anfrage vorbereiten: Welche Unterlagen machen Angebote vergleichbar? · Erklärende Präsentation</a:t>
            </a:r>
          </a:p>
        </p:txBody>
      </p:sp>
      <p:sp>
        <p:nvSpPr>
          <p:cNvPr id="3" name="Content Placeholder 2"/>
          <p:cNvSpPr>
            <a:spLocks noGrp="1"/>
          </p:cNvSpPr>
          <p:nvPr>
            <p:ph idx="1"/>
          </p:nvPr>
        </p:nvSpPr>
        <p:spPr/>
        <p:txBody>
          <a:bodyPr/>
          <a:lstStyle/>
          <a:p>
            <a:r>
              <a:t>Überblick: Eine Holzbau-Anfrage wird dann vergleichbar, wenn sie nicht nur ein Material nennt, sondern das gewünschte Ergebnis, den vorhandenen Bestand und die offenen Entscheidungen klar trennt. Der folgende Leitfaden hilft dabei, Unterlagen für die Anfrage zu sammeln und wichtige Randbedingungen zu erkennen. Die Hinweise orientieren sich am Beitrag „Holzbau-Anfrage vorbereiten: Welche Unterlagen machen Angebote vergleichbar?“ und ergänzen ihn um eine praktische Reihenfolge für die Vorbereitung.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dem Nutzungsziel statt mit dem Material beginnen</a:t>
            </a:r>
          </a:p>
        </p:txBody>
      </p:sp>
      <p:sp>
        <p:nvSpPr>
          <p:cNvPr id="3" name="Content Placeholder 2"/>
          <p:cNvSpPr>
            <a:spLocks noGrp="1"/>
          </p:cNvSpPr>
          <p:nvPr>
            <p:ph idx="1"/>
          </p:nvPr>
        </p:nvSpPr>
        <p:spPr/>
        <p:txBody>
          <a:bodyPr/>
          <a:lstStyle/>
          <a:p>
            <a:pPr>
              <a:defRPr sz="1800"/>
            </a:pPr>
            <a:r>
              <a:t>Beschreiben Sie zunächst, was mit dem Vorhaben erreicht werden soll. Ein zusätzlicher Wohnraum im Dachgeschoss, eine sanierte Decke oder eine neue Hülle geben mehr Aufschluss als die gewünschte Holzconstruction allein. Ergänzen Sie die geplante Nutzung und die damit verbundenen Anforderungen, etwa beim Schallschutz, bei Feuchteeinflüssen oder bei der Beanspruchung eines Decks. Dazu gehören außerdem der Standort in Hamburg, ungefähre Maße, die betroffenen Geschossebenen sowie die Information, ob ein Neubau oder eine Veränderung am Bestand geplant ist. Auch der bisherige Planungsstand sollte festgehalten werden: Idee, Skizze, Vorentwurf oder We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dem Nutzungsziel statt mit dem Material beginnen</a:t>
            </a:r>
          </a:p>
        </p:txBody>
      </p:sp>
      <p:sp>
        <p:nvSpPr>
          <p:cNvPr id="3" name="Content Placeholder 2"/>
          <p:cNvSpPr>
            <a:spLocks noGrp="1"/>
          </p:cNvSpPr>
          <p:nvPr>
            <p:ph idx="1"/>
          </p:nvPr>
        </p:nvSpPr>
        <p:spPr/>
        <p:txBody>
          <a:bodyPr/>
          <a:lstStyle/>
          <a:p>
            <a:pPr>
              <a:defRPr sz="1800"/>
            </a:pPr>
            <a:r>
              <a:t>rkplanung. So kann der Betrieb unterscheiden, was bereits feststeht und welche Punkte noch fachlich entwickelt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Anschlüsse mit Unterlagen sichtbar machen</a:t>
            </a:r>
          </a:p>
        </p:txBody>
      </p:sp>
      <p:sp>
        <p:nvSpPr>
          <p:cNvPr id="3" name="Content Placeholder 2"/>
          <p:cNvSpPr>
            <a:spLocks noGrp="1"/>
          </p:cNvSpPr>
          <p:nvPr>
            <p:ph idx="1"/>
          </p:nvPr>
        </p:nvSpPr>
        <p:spPr/>
        <p:txBody>
          <a:bodyPr/>
          <a:lstStyle/>
          <a:p>
            <a:pPr>
              <a:defRPr sz="1800"/>
            </a:pPr>
            <a:r>
              <a:t>Für die Planung im vorhandenen Gebäude sind Bestandsunterlagen besonders wichtig. Grundrisse, Schnitte und Ansichten können digital oder auf Papier vorliegen; auch ältere Pläne können hilfreich sein. Informieren Sie über das Baualter, frühere Umbauten, vorhandene statische Unterlagen oder Tragwerksangaben sowie über Dämmung, Dampfbremsen und Leitungsführungen. Berücksichtigen Sie außerdem bereits vorhandene Baugenehmigungen, soweit sie das Vorhaben betreffen. Fotos ersetzen kein Aufmaß, helfen aber bei der Einschätzung: Zeigen Sie das Gebäude, betroffene Bauteile und Anschlussbereiche wie Traufe, Ortgang, Wandanschluss oder Deckenauflager. Na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und Anschlüsse mit Unterlagen sichtbar machen</a:t>
            </a:r>
          </a:p>
        </p:txBody>
      </p:sp>
      <p:sp>
        <p:nvSpPr>
          <p:cNvPr id="3" name="Content Placeholder 2"/>
          <p:cNvSpPr>
            <a:spLocks noGrp="1"/>
          </p:cNvSpPr>
          <p:nvPr>
            <p:ph idx="1"/>
          </p:nvPr>
        </p:nvSpPr>
        <p:spPr/>
        <p:txBody>
          <a:bodyPr/>
          <a:lstStyle/>
          <a:p>
            <a:pPr>
              <a:defRPr sz="1800"/>
            </a:pPr>
            <a:r>
              <a:t>haufnahmen erkennbarer Schäden, Durchfeuchtungen oder Verformungen sowie Aufnahmen von Zufahrt, Lagerfläche und möglichen Stellflächen für Kran oder Gerüst ergänzen das Bild. Die zentrale Sammlung von Unterlagen und Anforderungen finden Sie in der Übersicht zur [Holzbau-Anfrage vorbereiten](https://1aholzbauhamburg.blogspot.com/2026/10/holzbau-anfrage-vorbereiten-welche.html).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Einschränkungen und offene Fragen ausdrücklich nennen</a:t>
            </a:r>
          </a:p>
        </p:txBody>
      </p:sp>
      <p:sp>
        <p:nvSpPr>
          <p:cNvPr id="3" name="Content Placeholder 2"/>
          <p:cNvSpPr>
            <a:spLocks noGrp="1"/>
          </p:cNvSpPr>
          <p:nvPr>
            <p:ph idx="1"/>
          </p:nvPr>
        </p:nvSpPr>
        <p:spPr/>
        <p:txBody>
          <a:bodyPr/>
          <a:lstStyle/>
          <a:p>
            <a:pPr>
              <a:defRPr sz="1800"/>
            </a:pPr>
            <a:r>
              <a:t>Zu einer belastbaren Anfrage gehören auch Informationen, die zunächst wenig angenehm erscheinen. Bekannte Feuchte, Pilzbefall, Risse oder Setzungen gehören ebenso dazu wie Denkmalschutz, Erhaltungssatzungen oder offene Fragen zur Nachbarschaft. Bei wesentlichen Dachumbaumaßnahmen kann eine erforderliche Photovoltaikpflicht relevant sein. Beschreiben Sie außerdem, ob das Gebäude während der Bauzeit bewohnt bleibt, ob Staubschutz oder zeitweise Abstützungen nötig sind und in welchem Zeitfenster gearbeitet werden soll, beispielsweise vor einem Bezug oder vor dem Winter. Trennen Sie anschließend bereits geklärte Entscheidungen von offenen Punkten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Einschränkungen und offene Fragen ausdrücklich nennen</a:t>
            </a:r>
          </a:p>
        </p:txBody>
      </p:sp>
      <p:sp>
        <p:nvSpPr>
          <p:cNvPr id="3" name="Content Placeholder 2"/>
          <p:cNvSpPr>
            <a:spLocks noGrp="1"/>
          </p:cNvSpPr>
          <p:nvPr>
            <p:ph idx="1"/>
          </p:nvPr>
        </p:nvSpPr>
        <p:spPr/>
        <p:txBody>
          <a:bodyPr/>
          <a:lstStyle/>
          <a:p>
            <a:pPr>
              <a:defRPr sz="1800"/>
            </a:pPr>
            <a:r>
              <a:t>. Zu den entschiedenen Angaben können Nutzungsziel, ungefähre Maße, Standort und Bestand gehören. Holzart, Aufbau, Oberflächenbehandlung, Dämmstoffwahl und Anschlussdetails können dagegen noch offen sein. Diese Unterscheidung verhindert, dass Angebote unterschiedliche Annahmen als vermeintlich gleiche Leistung darstellen.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als gemeinsame Ausgangsbasis nutzen</a:t>
            </a:r>
          </a:p>
        </p:txBody>
      </p:sp>
      <p:sp>
        <p:nvSpPr>
          <p:cNvPr id="3" name="Content Placeholder 2"/>
          <p:cNvSpPr>
            <a:spLocks noGrp="1"/>
          </p:cNvSpPr>
          <p:nvPr>
            <p:ph idx="1"/>
          </p:nvPr>
        </p:nvSpPr>
        <p:spPr/>
        <p:txBody>
          <a:bodyPr/>
          <a:lstStyle/>
          <a:p>
            <a:pPr>
              <a:defRPr sz="1800"/>
            </a:pPr>
            <a:r>
              <a:t>Eine Anfrage ist noch keine Bestandsprüfung und keine Ausführungsplanung. Sie liefert dem Betrieb jedoch eine strukturierte Grundlage für die ersten fachlichen Rückfragen. Besonders hilfreich ist ein überschaubarer Ablauf: erst Nutzungsziel und Anforderungen festhalten, dann Bestandsunterlagen und Fotos sortieren, anschließend Besonderheiten und offene Punkte ergänzen und zum Schluss den gewünschten Zeitrahmen sowie die geplante Leistungsgrenze angeben. Mit dieser Vorbereitung können Angebote Tragwerk, Hülle und Ausbau klar voneinander abgrenzen und besser vergleichen. Für eine direkte Weiterführung und die Abstimmung des Vorhabens bietet sic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als gemeinsame Ausgangsbasis nutzen</a:t>
            </a:r>
          </a:p>
        </p:txBody>
      </p:sp>
      <p:sp>
        <p:nvSpPr>
          <p:cNvPr id="3" name="Content Placeholder 2"/>
          <p:cNvSpPr>
            <a:spLocks noGrp="1"/>
          </p:cNvSpPr>
          <p:nvPr>
            <p:ph idx="1"/>
          </p:nvPr>
        </p:nvSpPr>
        <p:spPr/>
        <p:txBody>
          <a:bodyPr/>
          <a:lstStyle/>
          <a:p>
            <a:pPr>
              <a:defRPr sz="1800"/>
            </a:pPr>
            <a:r>
              <a:t>h die [1a Holzbau Hamburg](https://www.1a-holzbauhamburg.de/) 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Holzbau-Anfrage vorbereiten: Welche Unterlagen machen Angebote vergleichbar?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