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wordpress.com/2026/10/26/terrassenueberdachung-wandanschluss-regenwasserfuehrung/" TargetMode="External"/><Relationship Id="rId3" Type="http://schemas.openxmlformats.org/officeDocument/2006/relationships/hyperlink" Target="https://holzundhaus.github.io/1aholzbauhamburg/dateien/minimax-aab1d04acbbaa691814874d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an der Hauswand: Tragfähigkeit, Dämmung und Regenwasserführung getrennt planen · Erklärende Präsentation</a:t>
            </a:r>
          </a:p>
        </p:txBody>
      </p:sp>
      <p:sp>
        <p:nvSpPr>
          <p:cNvPr id="3" name="Content Placeholder 2"/>
          <p:cNvSpPr>
            <a:spLocks noGrp="1"/>
          </p:cNvSpPr>
          <p:nvPr>
            <p:ph idx="1"/>
          </p:nvPr>
        </p:nvSpPr>
        <p:spPr/>
        <p:txBody>
          <a:bodyPr/>
          <a:lstStyle/>
          <a:p>
            <a:r>
              <a:t>Überblick: Eine Holz-Terrassenüberdachung, die direkt an der Hauswand anschließt, wird erst dann planbar, wenn Befestigung, Wärmeschutz und Regenwasserführung gemeinsam betrachtet werden. Der Wandanschluss ist dabei weit mehr als eine handwerkliche Befestigung: Er verbindet die Tragfähigkeit des Gebäudes mit dem Aufbau der Fassade und dem sicheren Wasserweg von der Dachfläche bis zum Ablauf. Der folgende Leitfaden hilft, die nötigen Informationen zu sammeln und typische Fehler in der Reihenfolge der Planung zu vermeiden.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Prüfungen vor der Detailplanung</a:t>
            </a:r>
          </a:p>
        </p:txBody>
      </p:sp>
      <p:sp>
        <p:nvSpPr>
          <p:cNvPr id="3" name="Content Placeholder 2"/>
          <p:cNvSpPr>
            <a:spLocks noGrp="1"/>
          </p:cNvSpPr>
          <p:nvPr>
            <p:ph idx="1"/>
          </p:nvPr>
        </p:nvSpPr>
        <p:spPr/>
        <p:txBody>
          <a:bodyPr/>
          <a:lstStyle/>
          <a:p>
            <a:pPr>
              <a:defRPr sz="1800"/>
            </a:pPr>
            <a:r>
              <a:t>Am Anfang stehen drei voneinander getrennte Fragen. Erstens: Kann die Wand die vorgesehene Last aufnehmen? Zweitens: Wie ist die Fassade aufgebaut, und welche Schichten dürfen durchdrungen werden? Drittens: Wohin soll das Regenwasser geführt werden? Erst wenn diese Punkte geklärt sind, lässt sich ein geeigneter Aufbau entwickeln. Die Entscheidung, möglich wenige Stützen zu sehen, ersetzt diese Prüfungen nicht. Sie beeinflusst zwar die Geometrie, sagt aber nichts über die Tragfähigkeit des Anschlusses, die Ausbildung der Dämmung oder die Funktion der Entwässerung aus.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Fassadenaufbau gemeinsam prüfen</a:t>
            </a:r>
          </a:p>
        </p:txBody>
      </p:sp>
      <p:sp>
        <p:nvSpPr>
          <p:cNvPr id="3" name="Content Placeholder 2"/>
          <p:cNvSpPr>
            <a:spLocks noGrp="1"/>
          </p:cNvSpPr>
          <p:nvPr>
            <p:ph idx="1"/>
          </p:nvPr>
        </p:nvSpPr>
        <p:spPr/>
        <p:txBody>
          <a:bodyPr/>
          <a:lstStyle/>
          <a:p>
            <a:pPr>
              <a:defRPr sz="1800"/>
            </a:pPr>
            <a:r>
              <a:t>Holzkonstruktionen leiten ihre Lasten über Konsolen oder Pfetten in das Gebäude ein. Die tragende Schicht muss dabei bekannt sein. Fotos der Hauswand, vorhandene Baupläne und Aussagen zum früheren Aufbau helfen bei der Einordnung. Wichtig ist außerdem, ob Dämmung, Putz oder eine Holzfassade vorhanden sind. Eine Wärmedämmung ist keine tragfähige Befestigungsgrundlage. Bei einem WDVS müssen Konsolen durch die Dämmung bis in den tragenden Untergrund reichen. Die Dämmebene wird anschließend um die Befestigung herum geschlossen. Bei einer Holzfassade mit Hinterlüftung darf die Konstruktion die Hinterlüftungsebene nicht verschließen. Zugleich muss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Fassadenaufbau gemeinsam prüfen</a:t>
            </a:r>
          </a:p>
        </p:txBody>
      </p:sp>
      <p:sp>
        <p:nvSpPr>
          <p:cNvPr id="3" name="Content Placeholder 2"/>
          <p:cNvSpPr>
            <a:spLocks noGrp="1"/>
          </p:cNvSpPr>
          <p:nvPr>
            <p:ph idx="1"/>
          </p:nvPr>
        </p:nvSpPr>
        <p:spPr/>
        <p:txBody>
          <a:bodyPr/>
          <a:lstStyle/>
          <a:p>
            <a:pPr>
              <a:defRPr sz="1800"/>
            </a:pPr>
            <a:r>
              <a:t>die Befestigung den Anforderungen des jeweiligen Wandbilds entsprechen. Die Tragfähigkeitsbewertung kann zeigen, ob die Planung grundsätzlich möglich ist, ersetzt jedoch keine statische Berechnung.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Wasserweg vom Dach bis zum Ablauf festlegen</a:t>
            </a:r>
          </a:p>
        </p:txBody>
      </p:sp>
      <p:sp>
        <p:nvSpPr>
          <p:cNvPr id="3" name="Content Placeholder 2"/>
          <p:cNvSpPr>
            <a:spLocks noGrp="1"/>
          </p:cNvSpPr>
          <p:nvPr>
            <p:ph idx="1"/>
          </p:nvPr>
        </p:nvSpPr>
        <p:spPr/>
        <p:txBody>
          <a:bodyPr/>
          <a:lstStyle/>
          <a:p>
            <a:pPr>
              <a:defRPr sz="1800"/>
            </a:pPr>
            <a:r>
              <a:t>Für die Regenwasserführung sind Dachneigung, Gefälle der Rinne, Anschluss an der Hauswand und die weitere Ableitung gemeinsam zu betrachten. Am Wandanschluss darf Wasser nicht hinter Putz oder Holzfassade gelangen. Ein klarer geplanter Weg umfasst deshalb Dachfläche, Rinne, Fallrohr sowie die Frage, ob das Wasser versickert oder in eine vorhandene Entwässerung eingeleitet wird. Stehendes Wasser belastet dauerhaft Anschlüsse und Deckung. Auch die spätere Erreichbarkeit der Rinne und der Deckung gehört in die Planung: Verschmutzungen sollen ohne ungeplante Eingriffe in die Konstruktion bearbeitbar bleiben.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Anfrage sammeln</a:t>
            </a:r>
          </a:p>
        </p:txBody>
      </p:sp>
      <p:sp>
        <p:nvSpPr>
          <p:cNvPr id="3" name="Content Placeholder 2"/>
          <p:cNvSpPr>
            <a:spLocks noGrp="1"/>
          </p:cNvSpPr>
          <p:nvPr>
            <p:ph idx="1"/>
          </p:nvPr>
        </p:nvSpPr>
        <p:spPr/>
        <p:txBody>
          <a:bodyPr/>
          <a:lstStyle/>
          <a:p>
            <a:pPr>
              <a:defRPr sz="1800"/>
            </a:pPr>
            <a:r>
              <a:t>Für die Vorbereitung helfen Fotos der Hauswand mit erkennbarem Fassadenaufbau, vorhandene Pläne oder Baubeschreibungen sowie Angaben zum bisherigen Verlauf des Regenwassers. Ergänzend sind die gewünschte überdachte Fläche, die vorgesehene Dachhöhe und die Lage der Stützen zu notieren. Beobachtungen zu Feuchte, wiederkehrenden Verschmutzungen oder Problemen am vorhandenen Ablauf können Hinweise geben. Diese Unterlagen ersetzen weder die Prüfung vor Ort noch die statische Berechnung, ermöglichen aber eine gezielte fachliche Klärung. Hilfreich ist außerdem eine klare Beschreibung der erwarteten Nutzung, damit die spätere Planung nicht allein auf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eine belastbare Anfrage sammeln</a:t>
            </a:r>
          </a:p>
        </p:txBody>
      </p:sp>
      <p:sp>
        <p:nvSpPr>
          <p:cNvPr id="3" name="Content Placeholder 2"/>
          <p:cNvSpPr>
            <a:spLocks noGrp="1"/>
          </p:cNvSpPr>
          <p:nvPr>
            <p:ph idx="1"/>
          </p:nvPr>
        </p:nvSpPr>
        <p:spPr/>
        <p:txBody>
          <a:bodyPr/>
          <a:lstStyle/>
          <a:p>
            <a:pPr>
              <a:defRPr sz="1800"/>
            </a:pPr>
            <a:r>
              <a:t> das äußere Erscheinungsbild abzielt.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Reihenfolge statt nachträglicher Korrektur</a:t>
            </a:r>
          </a:p>
        </p:txBody>
      </p:sp>
      <p:sp>
        <p:nvSpPr>
          <p:cNvPr id="3" name="Content Placeholder 2"/>
          <p:cNvSpPr>
            <a:spLocks noGrp="1"/>
          </p:cNvSpPr>
          <p:nvPr>
            <p:ph idx="1"/>
          </p:nvPr>
        </p:nvSpPr>
        <p:spPr/>
        <p:txBody>
          <a:bodyPr/>
          <a:lstStyle/>
          <a:p>
            <a:pPr>
              <a:defRPr sz="1800"/>
            </a:pPr>
            <a:r>
              <a:t>Die zweckmäßige Reihenfolge lautet: Wand und Befestigung klären, den Wärmeschutz passend zum Anschluss ausarbeiten und anschließend den Wasserweg festlegen. Wird die Dämmung erst nachträglich um eine bereits gewählte Konsole ergänzt, entstehen schwer zu schließende Lücken. Wird die Wasserführung erst auf der Baustelle entschieden, besteht die Gefahr, dass Wasser hinter die Fassade gelangt. Wer dagegen alle drei Punkte vorab zusammenführt, erhält eine bessere Grundlage für die weitere Planung. Eine Übersicht zur grundsätzlichen Einrichtung einer Holz-Terrassenüberdachung bietet dabei die Orientierung. Für den speziellen Zusammenhang von Regenw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Reihenfolge statt nachträglicher Korrektur</a:t>
            </a:r>
          </a:p>
        </p:txBody>
      </p:sp>
      <p:sp>
        <p:nvSpPr>
          <p:cNvPr id="3" name="Content Placeholder 2"/>
          <p:cNvSpPr>
            <a:spLocks noGrp="1"/>
          </p:cNvSpPr>
          <p:nvPr>
            <p:ph idx="1"/>
          </p:nvPr>
        </p:nvSpPr>
        <p:spPr/>
        <p:txBody>
          <a:bodyPr/>
          <a:lstStyle/>
          <a:p>
            <a:pPr>
              <a:defRPr sz="1800"/>
            </a:pPr>
            <a:r>
              <a:t>asserführung und Terrassenüberdachung bietet sich der passender Beitrag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Terrassenüberdachung an der Hauswand: Tragfähigkeit, Dämmung und Regenwasserführung getrennt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